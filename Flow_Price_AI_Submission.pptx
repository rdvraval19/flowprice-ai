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62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725" autoAdjust="0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8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04890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6EBDCD-D74E-1242-9473-91D309BD715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6268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B9D71-3E0E-275F-F489-9CA89B9006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6B768F-FFF6-8B58-6F06-1E820061F7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73C407-903F-2055-9F67-67877DA08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DE513-C7B6-CA40-A205-75DAFAA7B8A7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FCBEAD-4007-8F4B-B8F6-17844FEA2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E8EB44-9266-D473-D093-7CB918539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E8DE9-1F39-064F-BFD5-0AF42DE1DC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543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E9C1315-1192-1696-0753-6E510AFF98F0}"/>
              </a:ext>
            </a:extLst>
          </p:cNvPr>
          <p:cNvSpPr txBox="1"/>
          <p:nvPr/>
        </p:nvSpPr>
        <p:spPr>
          <a:xfrm>
            <a:off x="335789" y="2571810"/>
            <a:ext cx="5039179" cy="1714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</a:pPr>
            <a:r>
              <a:rPr lang="en-IN" b="0" dirty="0"/>
              <a:t>Team Name :  Prognosis</a:t>
            </a:r>
          </a:p>
          <a:p>
            <a:pPr fontAlgn="base">
              <a:lnSpc>
                <a:spcPct val="150000"/>
              </a:lnSpc>
            </a:pPr>
            <a:r>
              <a:rPr lang="en-IN" b="0" dirty="0"/>
              <a:t>Problem Statement Number : PS 3</a:t>
            </a:r>
          </a:p>
          <a:p>
            <a:pPr fontAlgn="base">
              <a:lnSpc>
                <a:spcPct val="150000"/>
              </a:lnSpc>
            </a:pPr>
            <a:r>
              <a:rPr lang="en-IN" dirty="0"/>
              <a:t>Domain: E – Commerce and Machine Learning</a:t>
            </a:r>
          </a:p>
          <a:p>
            <a:pPr fontAlgn="base">
              <a:lnSpc>
                <a:spcPct val="150000"/>
              </a:lnSpc>
            </a:pPr>
            <a:r>
              <a:rPr lang="en-IN" dirty="0"/>
              <a:t>Team Lead : Prachi Parmar</a:t>
            </a:r>
            <a:endParaRPr lang="en-IN" b="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B029BDF-6BFB-F66F-3A0F-75E562BF2356}"/>
              </a:ext>
            </a:extLst>
          </p:cNvPr>
          <p:cNvSpPr txBox="1"/>
          <p:nvPr/>
        </p:nvSpPr>
        <p:spPr>
          <a:xfrm>
            <a:off x="0" y="0"/>
            <a:ext cx="6705603" cy="76944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4400" dirty="0">
                <a:latin typeface="Arial Black" panose="020B0A04020102020204" pitchFamily="34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Tic Tech Toe’26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09C8E6-2DBE-489B-1301-875A45B64F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03" y="0"/>
            <a:ext cx="54864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425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D6F8E"/>
          </a:solidFill>
          <a:ln w="12700">
            <a:solidFill>
              <a:srgbClr val="1D6F8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82296"/>
            <a:ext cx="118259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 of Idea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82880" y="777239"/>
            <a:ext cx="5913120" cy="5693795"/>
          </a:xfrm>
          <a:prstGeom prst="roundRect">
            <a:avLst>
              <a:gd name="adj" fmla="val 2521"/>
            </a:avLst>
          </a:prstGeom>
          <a:solidFill>
            <a:srgbClr val="F9FBFD"/>
          </a:solidFill>
          <a:ln w="12700">
            <a:solidFill>
              <a:srgbClr val="D5DEE6"/>
            </a:solidFill>
            <a:prstDash val="solid"/>
          </a:ln>
          <a:effectLst>
            <a:outerShdw blurRad="25400" dist="127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667923" y="890543"/>
            <a:ext cx="297860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4C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(Traditional Systems)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7700" y="3423965"/>
            <a:ext cx="4983480" cy="18288"/>
          </a:xfrm>
          <a:prstGeom prst="rect">
            <a:avLst/>
          </a:prstGeom>
          <a:solidFill>
            <a:srgbClr val="D5DEE6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65988" y="3593516"/>
            <a:ext cx="3212073" cy="2286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 (FLOWPRICE AI)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29601" y="2668192"/>
            <a:ext cx="5404204" cy="667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Pricing updates are delayed, missing real-time demand shifts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Recommendations remain static and ignore user’s current intent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Businesses lose conversions due to slow, outdated decisions </a:t>
            </a:r>
          </a:p>
        </p:txBody>
      </p:sp>
      <p:sp>
        <p:nvSpPr>
          <p:cNvPr id="22" name="Shape 20"/>
          <p:cNvSpPr/>
          <p:nvPr/>
        </p:nvSpPr>
        <p:spPr>
          <a:xfrm>
            <a:off x="6351777" y="5312664"/>
            <a:ext cx="5510620" cy="1158370"/>
          </a:xfrm>
          <a:prstGeom prst="roundRect">
            <a:avLst>
              <a:gd name="adj" fmla="val 10000"/>
            </a:avLst>
          </a:prstGeom>
          <a:solidFill>
            <a:srgbClr val="162B3A"/>
          </a:solidFill>
          <a:ln w="12700">
            <a:solidFill>
              <a:srgbClr val="162B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76920" y="5440744"/>
            <a:ext cx="1640840" cy="1707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One live loop</a:t>
            </a:r>
            <a:endParaRPr lang="en-US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421119" y="5739577"/>
            <a:ext cx="538031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IN" sz="1200" dirty="0">
                <a:solidFill>
                  <a:schemeClr val="bg1"/>
                </a:solidFill>
              </a:rPr>
              <a:t>User Behaviour → AI Decisions → Pricing → Recommendations → Conversion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6482080" y="6151896"/>
            <a:ext cx="5161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i="1" dirty="0">
                <a:solidFill>
                  <a:schemeClr val="bg1"/>
                </a:solidFill>
              </a:rPr>
              <a:t>“The system learns and adapts instantly within the same user session.”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098F574F-F8EC-7622-ED70-757A222269A7}"/>
              </a:ext>
            </a:extLst>
          </p:cNvPr>
          <p:cNvSpPr/>
          <p:nvPr/>
        </p:nvSpPr>
        <p:spPr>
          <a:xfrm>
            <a:off x="301557" y="1335024"/>
            <a:ext cx="5687763" cy="1207008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D276488-E56E-D17C-C507-E912B9608C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267" y="1378486"/>
            <a:ext cx="5579923" cy="1117000"/>
          </a:xfrm>
          <a:prstGeom prst="rect">
            <a:avLst/>
          </a:prstGeom>
        </p:spPr>
      </p:pic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06AB8225-889C-0B14-6AB8-6AE16B8A1547}"/>
              </a:ext>
            </a:extLst>
          </p:cNvPr>
          <p:cNvSpPr/>
          <p:nvPr/>
        </p:nvSpPr>
        <p:spPr>
          <a:xfrm>
            <a:off x="301557" y="3957141"/>
            <a:ext cx="5687763" cy="1207008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C46CB33F-D69A-FEC1-1E2E-C0141FA3DA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126" y="4203239"/>
            <a:ext cx="5589799" cy="844827"/>
          </a:xfrm>
          <a:prstGeom prst="rect">
            <a:avLst/>
          </a:prstGeom>
        </p:spPr>
      </p:pic>
      <p:sp>
        <p:nvSpPr>
          <p:cNvPr id="34" name="Text 8">
            <a:extLst>
              <a:ext uri="{FF2B5EF4-FFF2-40B4-BE49-F238E27FC236}">
                <a16:creationId xmlns:a16="http://schemas.microsoft.com/office/drawing/2014/main" id="{C1B25DD0-1D6D-8CE5-B557-01F0016A427E}"/>
              </a:ext>
            </a:extLst>
          </p:cNvPr>
          <p:cNvSpPr/>
          <p:nvPr/>
        </p:nvSpPr>
        <p:spPr>
          <a:xfrm>
            <a:off x="328145" y="5504096"/>
            <a:ext cx="5687763" cy="902869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Capture user behavior instantly using real-time event processing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Dynamically adjust pricing based on demand, inventory, and competition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Deliver session-aware recommendations that adapt within seconds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369E63F-4B7B-5D26-3DE7-994657CC3E35}"/>
              </a:ext>
            </a:extLst>
          </p:cNvPr>
          <p:cNvSpPr txBox="1"/>
          <p:nvPr/>
        </p:nvSpPr>
        <p:spPr>
          <a:xfrm>
            <a:off x="3007845" y="6532466"/>
            <a:ext cx="60992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>
                <a:latin typeface="Aharoni" panose="02010803020104030203" pitchFamily="2" charset="-79"/>
                <a:cs typeface="Aharoni" panose="02010803020104030203" pitchFamily="2" charset="-79"/>
              </a:rPr>
              <a:t>Real-time. Adaptive. Revenue-driven.</a:t>
            </a: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81C21ADC-FC90-3DAE-4610-FD81A14E44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1777" y="704088"/>
            <a:ext cx="5510622" cy="458709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45"/>
          <p:cNvSpPr/>
          <p:nvPr/>
        </p:nvSpPr>
        <p:spPr>
          <a:xfrm>
            <a:off x="141732" y="4949952"/>
            <a:ext cx="5440680" cy="1773936"/>
          </a:xfrm>
          <a:prstGeom prst="roundRect">
            <a:avLst>
              <a:gd name="adj" fmla="val 5085"/>
            </a:avLst>
          </a:prstGeom>
          <a:solidFill>
            <a:srgbClr val="1D3550"/>
          </a:solidFill>
          <a:ln w="12700">
            <a:solidFill>
              <a:srgbClr val="355468"/>
            </a:solidFill>
            <a:prstDash val="solid"/>
          </a:ln>
          <a:effectLst>
            <a:outerShdw blurRad="25400" dist="127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370332" y="504850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600" b="1" dirty="0">
                <a:solidFill>
                  <a:schemeClr val="bg1"/>
                </a:solidFill>
              </a:rPr>
              <a:t>System Behaviour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49" name="Text 47"/>
          <p:cNvSpPr/>
          <p:nvPr/>
        </p:nvSpPr>
        <p:spPr>
          <a:xfrm>
            <a:off x="370332" y="5351272"/>
            <a:ext cx="4892040" cy="8707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Real-time event streaming (no batch delays)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Session signals drive pricing &amp; ranking updates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In-memory features ensure low-latency response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Explainable decisions for user trust 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1A2A3C1B-05BA-D07A-241D-DD53FB6F1C20}"/>
              </a:ext>
            </a:extLst>
          </p:cNvPr>
          <p:cNvSpPr/>
          <p:nvPr/>
        </p:nvSpPr>
        <p:spPr>
          <a:xfrm>
            <a:off x="154940" y="2110232"/>
            <a:ext cx="5440680" cy="2762504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D6F8E"/>
          </a:solidFill>
          <a:ln w="12700">
            <a:solidFill>
              <a:srgbClr val="1D6F8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82296"/>
            <a:ext cx="118259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&amp; Prototype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B3A"/>
                </a:solidFill>
              </a:rPr>
              <a:t>End-to-end real-time pipeline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132840"/>
            <a:ext cx="2029968" cy="868680"/>
          </a:xfrm>
          <a:prstGeom prst="roundRect">
            <a:avLst>
              <a:gd name="adj" fmla="val 10345"/>
            </a:avLst>
          </a:prstGeom>
          <a:solidFill>
            <a:srgbClr val="EAF3F7"/>
          </a:solidFill>
          <a:ln w="12700">
            <a:solidFill>
              <a:srgbClr val="0F4E66"/>
            </a:solidFill>
            <a:prstDash val="solid"/>
          </a:ln>
          <a:effectLst>
            <a:outerShdw blurRad="25400" dist="127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12648" y="1270000"/>
            <a:ext cx="347472" cy="347472"/>
          </a:xfrm>
          <a:prstGeom prst="ellipse">
            <a:avLst/>
          </a:prstGeom>
          <a:solidFill>
            <a:srgbClr val="0F4E66"/>
          </a:solidFill>
          <a:ln w="12700">
            <a:solidFill>
              <a:srgbClr val="0F4E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1315720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14984" y="127914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</a:rPr>
              <a:t>Event Ingest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14984" y="154432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5F6B76"/>
                </a:solidFill>
              </a:rPr>
              <a:t>page views • search • cart(Redis+Docker)</a:t>
            </a:r>
            <a:endParaRPr lang="en-US" sz="970" dirty="0"/>
          </a:p>
        </p:txBody>
      </p:sp>
      <p:sp>
        <p:nvSpPr>
          <p:cNvPr id="10" name="Text 8"/>
          <p:cNvSpPr/>
          <p:nvPr/>
        </p:nvSpPr>
        <p:spPr>
          <a:xfrm>
            <a:off x="2514600" y="1571752"/>
            <a:ext cx="182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F4E66"/>
                </a:solidFill>
              </a:rPr>
              <a:t>→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2734056" y="1132840"/>
            <a:ext cx="2029968" cy="868680"/>
          </a:xfrm>
          <a:prstGeom prst="roundRect">
            <a:avLst>
              <a:gd name="adj" fmla="val 10345"/>
            </a:avLst>
          </a:prstGeom>
          <a:solidFill>
            <a:srgbClr val="F1F7FB"/>
          </a:solidFill>
          <a:ln w="12700">
            <a:solidFill>
              <a:srgbClr val="2D6CDF"/>
            </a:solidFill>
            <a:prstDash val="solid"/>
          </a:ln>
          <a:effectLst>
            <a:outerShdw blurRad="25400" dist="127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843784" y="1270000"/>
            <a:ext cx="347472" cy="347472"/>
          </a:xfrm>
          <a:prstGeom prst="ellipse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43784" y="1315720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46120" y="127914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</a:rPr>
              <a:t>Feature Store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46120" y="154432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5F6B76"/>
                </a:solidFill>
              </a:rPr>
              <a:t>session score • intent • affinity(Redis, low memory)</a:t>
            </a:r>
            <a:endParaRPr lang="en-US" sz="970" dirty="0"/>
          </a:p>
        </p:txBody>
      </p:sp>
      <p:sp>
        <p:nvSpPr>
          <p:cNvPr id="16" name="Text 14"/>
          <p:cNvSpPr/>
          <p:nvPr/>
        </p:nvSpPr>
        <p:spPr>
          <a:xfrm>
            <a:off x="4745736" y="1571752"/>
            <a:ext cx="182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F4E66"/>
                </a:solidFill>
              </a:rPr>
              <a:t>→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965192" y="1132840"/>
            <a:ext cx="2029968" cy="868680"/>
          </a:xfrm>
          <a:prstGeom prst="roundRect">
            <a:avLst>
              <a:gd name="adj" fmla="val 10345"/>
            </a:avLst>
          </a:prstGeom>
          <a:solidFill>
            <a:srgbClr val="FFF3E6"/>
          </a:solidFill>
          <a:ln w="12700">
            <a:solidFill>
              <a:srgbClr val="F28C28"/>
            </a:solidFill>
            <a:prstDash val="solid"/>
          </a:ln>
          <a:effectLst>
            <a:outerShdw blurRad="25400" dist="127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074920" y="1270000"/>
            <a:ext cx="347472" cy="347472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74920" y="1315720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77256" y="127914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</a:rPr>
              <a:t>Pricing Engine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77256" y="154432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5F6B76"/>
                </a:solidFill>
              </a:rPr>
              <a:t>demand velocity • inventory • margin</a:t>
            </a:r>
            <a:endParaRPr lang="en-US" sz="970" dirty="0"/>
          </a:p>
        </p:txBody>
      </p:sp>
      <p:sp>
        <p:nvSpPr>
          <p:cNvPr id="22" name="Text 20"/>
          <p:cNvSpPr/>
          <p:nvPr/>
        </p:nvSpPr>
        <p:spPr>
          <a:xfrm>
            <a:off x="6976872" y="1571752"/>
            <a:ext cx="182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F4E66"/>
                </a:solidFill>
              </a:rPr>
              <a:t>→</a:t>
            </a: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7196328" y="1132840"/>
            <a:ext cx="2029968" cy="868680"/>
          </a:xfrm>
          <a:prstGeom prst="roundRect">
            <a:avLst>
              <a:gd name="adj" fmla="val 10345"/>
            </a:avLst>
          </a:prstGeom>
          <a:solidFill>
            <a:srgbClr val="ECF7EF"/>
          </a:solidFill>
          <a:ln w="12700">
            <a:solidFill>
              <a:srgbClr val="2E8B57"/>
            </a:solidFill>
            <a:prstDash val="solid"/>
          </a:ln>
          <a:effectLst>
            <a:outerShdw blurRad="25400" dist="127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306056" y="1270000"/>
            <a:ext cx="347472" cy="347472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06056" y="1315720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708392" y="127914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</a:rPr>
              <a:t>Rec. Engine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708392" y="154432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5F6B76"/>
                </a:solidFill>
              </a:rPr>
              <a:t>GRU4Rec + collaborative filtering</a:t>
            </a:r>
            <a:endParaRPr lang="en-US" sz="970" dirty="0"/>
          </a:p>
        </p:txBody>
      </p:sp>
      <p:sp>
        <p:nvSpPr>
          <p:cNvPr id="28" name="Text 26"/>
          <p:cNvSpPr/>
          <p:nvPr/>
        </p:nvSpPr>
        <p:spPr>
          <a:xfrm>
            <a:off x="9208008" y="1571752"/>
            <a:ext cx="182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F4E66"/>
                </a:solidFill>
              </a:rPr>
              <a:t>→</a:t>
            </a: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9427464" y="1132840"/>
            <a:ext cx="2029968" cy="868680"/>
          </a:xfrm>
          <a:prstGeom prst="roundRect">
            <a:avLst>
              <a:gd name="adj" fmla="val 10345"/>
            </a:avLst>
          </a:prstGeom>
          <a:solidFill>
            <a:srgbClr val="F6ECFF"/>
          </a:solidFill>
          <a:ln w="12700">
            <a:solidFill>
              <a:srgbClr val="7A4CC2"/>
            </a:solidFill>
            <a:prstDash val="solid"/>
          </a:ln>
          <a:effectLst>
            <a:outerShdw blurRad="25400" dist="127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537192" y="1270000"/>
            <a:ext cx="347472" cy="347472"/>
          </a:xfrm>
          <a:prstGeom prst="ellipse">
            <a:avLst/>
          </a:prstGeom>
          <a:solidFill>
            <a:srgbClr val="7A4CC2"/>
          </a:solidFill>
          <a:ln w="12700">
            <a:solidFill>
              <a:srgbClr val="7A4CC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537192" y="1315720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939528" y="127914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</a:rPr>
              <a:t>API / Frontend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939528" y="154432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sub-second response</a:t>
            </a:r>
          </a:p>
          <a:p>
            <a:r>
              <a:rPr lang="en-IN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(&lt; 200ms Response)</a:t>
            </a:r>
            <a:endParaRPr lang="en-US" sz="97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4" name="Text 32"/>
          <p:cNvSpPr/>
          <p:nvPr/>
        </p:nvSpPr>
        <p:spPr>
          <a:xfrm>
            <a:off x="989837" y="2228342"/>
            <a:ext cx="348843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b="1" dirty="0"/>
              <a:t>Real-Time Feature Engineering</a:t>
            </a:r>
            <a:endParaRPr lang="en-US" b="1" dirty="0"/>
          </a:p>
        </p:txBody>
      </p:sp>
      <p:sp>
        <p:nvSpPr>
          <p:cNvPr id="35" name="Shape 33"/>
          <p:cNvSpPr/>
          <p:nvPr/>
        </p:nvSpPr>
        <p:spPr>
          <a:xfrm>
            <a:off x="372110" y="2652776"/>
            <a:ext cx="3334004" cy="420624"/>
          </a:xfrm>
          <a:prstGeom prst="roundRect">
            <a:avLst>
              <a:gd name="adj" fmla="val 26087"/>
            </a:avLst>
          </a:prstGeom>
          <a:solidFill>
            <a:srgbClr val="F8FBFD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73278" y="2744216"/>
            <a:ext cx="2907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400" b="1" dirty="0"/>
              <a:t>User Intent</a:t>
            </a:r>
            <a:r>
              <a:rPr lang="en-IN" sz="1400" dirty="0"/>
              <a:t> → purchase probability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2088388" y="3164840"/>
            <a:ext cx="3334004" cy="420624"/>
          </a:xfrm>
          <a:prstGeom prst="roundRect">
            <a:avLst>
              <a:gd name="adj" fmla="val 26087"/>
            </a:avLst>
          </a:prstGeom>
          <a:solidFill>
            <a:srgbClr val="F1F7FB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289556" y="3256280"/>
            <a:ext cx="297229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400" b="1" dirty="0"/>
              <a:t>Session Score</a:t>
            </a:r>
            <a:r>
              <a:rPr lang="en-IN" sz="1400" dirty="0"/>
              <a:t> → engagement level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372110" y="3722116"/>
            <a:ext cx="3334004" cy="420624"/>
          </a:xfrm>
          <a:prstGeom prst="roundRect">
            <a:avLst>
              <a:gd name="adj" fmla="val 26087"/>
            </a:avLst>
          </a:prstGeom>
          <a:solidFill>
            <a:srgbClr val="F8FBFD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3277" y="3813556"/>
            <a:ext cx="325297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400" b="1" dirty="0"/>
              <a:t>Category Affinity</a:t>
            </a:r>
            <a:r>
              <a:rPr lang="en-IN" sz="1400" dirty="0"/>
              <a:t> → preference signal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2087862" y="4269740"/>
            <a:ext cx="3334004" cy="420624"/>
          </a:xfrm>
          <a:prstGeom prst="roundRect">
            <a:avLst>
              <a:gd name="adj" fmla="val 26087"/>
            </a:avLst>
          </a:prstGeom>
          <a:solidFill>
            <a:srgbClr val="F1F7FB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289029" y="4361180"/>
            <a:ext cx="325297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400" b="1" dirty="0"/>
              <a:t>Demand Velocity</a:t>
            </a:r>
            <a:r>
              <a:rPr lang="en-IN" sz="1400" dirty="0"/>
              <a:t> → product popularity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576072" y="6299200"/>
            <a:ext cx="1463040" cy="310896"/>
          </a:xfrm>
          <a:prstGeom prst="roundRect">
            <a:avLst>
              <a:gd name="adj" fmla="val 41176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76072" y="639064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IN" sz="1050" b="1" dirty="0">
                <a:solidFill>
                  <a:schemeClr val="bg1"/>
                </a:solidFill>
              </a:rPr>
              <a:t>Real-Time</a:t>
            </a: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52" name="Shape 50"/>
          <p:cNvSpPr/>
          <p:nvPr/>
        </p:nvSpPr>
        <p:spPr>
          <a:xfrm>
            <a:off x="2176272" y="6299200"/>
            <a:ext cx="1508760" cy="310896"/>
          </a:xfrm>
          <a:prstGeom prst="roundRect">
            <a:avLst>
              <a:gd name="adj" fmla="val 41176"/>
            </a:avLst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176272" y="6354064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IN" sz="1050" b="1" dirty="0">
                <a:solidFill>
                  <a:schemeClr val="bg1"/>
                </a:solidFill>
              </a:rPr>
              <a:t>&lt;200ms Latency</a:t>
            </a: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54" name="Shape 52"/>
          <p:cNvSpPr/>
          <p:nvPr/>
        </p:nvSpPr>
        <p:spPr>
          <a:xfrm>
            <a:off x="3822192" y="6299200"/>
            <a:ext cx="1325880" cy="310896"/>
          </a:xfrm>
          <a:prstGeom prst="roundRect">
            <a:avLst>
              <a:gd name="adj" fmla="val 41176"/>
            </a:avLst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822192" y="6354064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IN" sz="1050" b="1" dirty="0">
                <a:solidFill>
                  <a:schemeClr val="bg1"/>
                </a:solidFill>
              </a:rPr>
              <a:t>Explainable AI</a:t>
            </a: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D9B15C49-C9BE-E5DA-F57F-6CBDCD19EDC0}"/>
              </a:ext>
            </a:extLst>
          </p:cNvPr>
          <p:cNvSpPr/>
          <p:nvPr/>
        </p:nvSpPr>
        <p:spPr>
          <a:xfrm>
            <a:off x="5811520" y="2228342"/>
            <a:ext cx="6238748" cy="449554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IN" b="1" dirty="0"/>
              <a:t>Live System Dashboard (Prototype)</a:t>
            </a:r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r>
              <a:rPr lang="en-US" dirty="0"/>
              <a:t>“Real-time dashboard showing pricing, recommendations, and system performance.”</a:t>
            </a:r>
            <a:endParaRPr lang="en-IN" dirty="0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0BB5B20A-3FC0-A8D4-D856-8DA42C29B7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8066" y="2605925"/>
            <a:ext cx="5785655" cy="3073629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A83691FC-09AD-0BD1-ACBC-A54275152868}"/>
              </a:ext>
            </a:extLst>
          </p:cNvPr>
          <p:cNvSpPr txBox="1"/>
          <p:nvPr/>
        </p:nvSpPr>
        <p:spPr>
          <a:xfrm>
            <a:off x="6095847" y="2677160"/>
            <a:ext cx="1467612" cy="307777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IN" sz="700" dirty="0">
                <a:solidFill>
                  <a:schemeClr val="bg1"/>
                </a:solidFill>
              </a:rPr>
              <a:t>Sub-10ms latency (real-time system)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F260163-BFA2-F356-86E1-94F62C5DF0E3}"/>
              </a:ext>
            </a:extLst>
          </p:cNvPr>
          <p:cNvSpPr txBox="1"/>
          <p:nvPr/>
        </p:nvSpPr>
        <p:spPr>
          <a:xfrm>
            <a:off x="8067812" y="3613404"/>
            <a:ext cx="1467612" cy="307777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700" dirty="0"/>
              <a:t>+₹87K revenue uplift vs static pricing</a:t>
            </a:r>
            <a:endParaRPr lang="en-IN" sz="700" dirty="0">
              <a:solidFill>
                <a:schemeClr val="bg1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53A0070-E984-830D-65BC-034F80B64670}"/>
              </a:ext>
            </a:extLst>
          </p:cNvPr>
          <p:cNvSpPr txBox="1"/>
          <p:nvPr/>
        </p:nvSpPr>
        <p:spPr>
          <a:xfrm>
            <a:off x="9843516" y="3585464"/>
            <a:ext cx="1467612" cy="307777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700" dirty="0"/>
              <a:t>Live A/B testing for pricing strategies</a:t>
            </a:r>
            <a:endParaRPr lang="en-IN" sz="600" dirty="0">
              <a:solidFill>
                <a:schemeClr val="bg1"/>
              </a:solidFill>
            </a:endParaRP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5740E26B-E29D-A07B-2A8B-C7CE3850A501}"/>
              </a:ext>
            </a:extLst>
          </p:cNvPr>
          <p:cNvCxnSpPr>
            <a:cxnSpLocks/>
            <a:stCxn id="46" idx="1"/>
            <a:endCxn id="73" idx="3"/>
          </p:cNvCxnSpPr>
          <p:nvPr/>
        </p:nvCxnSpPr>
        <p:spPr>
          <a:xfrm flipH="1">
            <a:off x="7708392" y="3767293"/>
            <a:ext cx="359420" cy="3726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5633E16F-2A13-5F77-1D0E-517875A10CE4}"/>
              </a:ext>
            </a:extLst>
          </p:cNvPr>
          <p:cNvCxnSpPr>
            <a:cxnSpLocks/>
            <a:endCxn id="72" idx="0"/>
          </p:cNvCxnSpPr>
          <p:nvPr/>
        </p:nvCxnSpPr>
        <p:spPr>
          <a:xfrm>
            <a:off x="6775704" y="3006922"/>
            <a:ext cx="0" cy="126367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9" name="Connector: Elbow 68">
            <a:extLst>
              <a:ext uri="{FF2B5EF4-FFF2-40B4-BE49-F238E27FC236}">
                <a16:creationId xmlns:a16="http://schemas.microsoft.com/office/drawing/2014/main" id="{E1D09C85-42FD-CDA2-6972-BC0CC617B720}"/>
              </a:ext>
            </a:extLst>
          </p:cNvPr>
          <p:cNvCxnSpPr>
            <a:cxnSpLocks/>
            <a:stCxn id="56" idx="1"/>
          </p:cNvCxnSpPr>
          <p:nvPr/>
        </p:nvCxnSpPr>
        <p:spPr>
          <a:xfrm rot="10800000" flipV="1">
            <a:off x="9649978" y="3739352"/>
            <a:ext cx="193538" cy="290103"/>
          </a:xfrm>
          <a:prstGeom prst="bentConnector2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2" name="Rectangle 71">
            <a:extLst>
              <a:ext uri="{FF2B5EF4-FFF2-40B4-BE49-F238E27FC236}">
                <a16:creationId xmlns:a16="http://schemas.microsoft.com/office/drawing/2014/main" id="{20888282-A7D3-912A-5C73-9C7774C9C00B}"/>
              </a:ext>
            </a:extLst>
          </p:cNvPr>
          <p:cNvSpPr/>
          <p:nvPr/>
        </p:nvSpPr>
        <p:spPr>
          <a:xfrm>
            <a:off x="6355080" y="3133289"/>
            <a:ext cx="841248" cy="371078"/>
          </a:xfrm>
          <a:prstGeom prst="rect">
            <a:avLst/>
          </a:prstGeom>
          <a:noFill/>
          <a:ln w="19050">
            <a:solidFill>
              <a:schemeClr val="bg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bg1"/>
                </a:solidFill>
              </a:ln>
              <a:noFill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2CEED7AE-6D65-A5F7-6BC8-6113E5D0C400}"/>
              </a:ext>
            </a:extLst>
          </p:cNvPr>
          <p:cNvSpPr/>
          <p:nvPr/>
        </p:nvSpPr>
        <p:spPr>
          <a:xfrm>
            <a:off x="6355080" y="3561350"/>
            <a:ext cx="1353312" cy="419338"/>
          </a:xfrm>
          <a:prstGeom prst="rect">
            <a:avLst/>
          </a:prstGeom>
          <a:noFill/>
          <a:ln w="19050">
            <a:solidFill>
              <a:schemeClr val="bg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bg1"/>
                </a:solidFill>
              </a:ln>
              <a:noFill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434A9F55-C934-D17C-4C22-38312CEA893A}"/>
              </a:ext>
            </a:extLst>
          </p:cNvPr>
          <p:cNvSpPr/>
          <p:nvPr/>
        </p:nvSpPr>
        <p:spPr>
          <a:xfrm>
            <a:off x="8046720" y="4062873"/>
            <a:ext cx="1706880" cy="1237564"/>
          </a:xfrm>
          <a:prstGeom prst="rect">
            <a:avLst/>
          </a:prstGeom>
          <a:noFill/>
          <a:ln w="19050">
            <a:solidFill>
              <a:schemeClr val="bg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bg1"/>
                </a:solidFill>
              </a:ln>
              <a:noFill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0BFA7263-9D3F-8C90-5F07-4C461C4C27E2}"/>
              </a:ext>
            </a:extLst>
          </p:cNvPr>
          <p:cNvSpPr/>
          <p:nvPr/>
        </p:nvSpPr>
        <p:spPr>
          <a:xfrm>
            <a:off x="93884" y="511689"/>
            <a:ext cx="11973299" cy="187269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472D664C-EBA5-2422-8D9C-F25980FCD6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16" y="2414444"/>
            <a:ext cx="9428814" cy="4320349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D6F8E"/>
          </a:solidFill>
          <a:ln w="12700">
            <a:solidFill>
              <a:srgbClr val="1D6F8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82296"/>
            <a:ext cx="118259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 &amp; Flow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178808" y="568313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u="sng" dirty="0"/>
              <a:t>Why This System Is Production-Ready</a:t>
            </a:r>
          </a:p>
        </p:txBody>
      </p:sp>
      <p:sp>
        <p:nvSpPr>
          <p:cNvPr id="5" name="Shape 3"/>
          <p:cNvSpPr/>
          <p:nvPr/>
        </p:nvSpPr>
        <p:spPr>
          <a:xfrm>
            <a:off x="502920" y="896893"/>
            <a:ext cx="3246120" cy="1402080"/>
          </a:xfrm>
          <a:prstGeom prst="roundRect">
            <a:avLst>
              <a:gd name="adj" fmla="val 4225"/>
            </a:avLst>
          </a:prstGeom>
          <a:solidFill>
            <a:srgbClr val="EAF3F7"/>
          </a:solidFill>
          <a:ln w="12700">
            <a:solidFill>
              <a:srgbClr val="0F4E66"/>
            </a:solidFill>
            <a:prstDash val="solid"/>
          </a:ln>
          <a:effectLst>
            <a:outerShdw blurRad="25400" dist="127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67512" y="1098061"/>
            <a:ext cx="384048" cy="384048"/>
          </a:xfrm>
          <a:prstGeom prst="ellipse">
            <a:avLst/>
          </a:prstGeom>
          <a:solidFill>
            <a:srgbClr val="0F4E66"/>
          </a:solidFill>
          <a:ln w="12700">
            <a:solidFill>
              <a:srgbClr val="0F4E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1152925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61288" y="1125493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</a:rPr>
              <a:t>Data readiness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77240" y="1456950"/>
            <a:ext cx="2971800" cy="609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Synthetic clickstream: 10M+ events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Product catalog: 5,000+ SKUs, 50 categories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Competitor price feeds + user segments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60520" y="896893"/>
            <a:ext cx="3246120" cy="1402080"/>
          </a:xfrm>
          <a:prstGeom prst="roundRect">
            <a:avLst>
              <a:gd name="adj" fmla="val 4225"/>
            </a:avLst>
          </a:prstGeom>
          <a:solidFill>
            <a:srgbClr val="ECF7EF"/>
          </a:solidFill>
          <a:ln w="12700">
            <a:solidFill>
              <a:srgbClr val="2E8B57"/>
            </a:solidFill>
            <a:prstDash val="solid"/>
          </a:ln>
          <a:effectLst>
            <a:outerShdw blurRad="25400" dist="127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25112" y="1098061"/>
            <a:ext cx="384048" cy="38404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25112" y="1152925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18888" y="1125493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</a:rPr>
              <a:t>Open-source stack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361688" y="1536973"/>
            <a:ext cx="2923540" cy="670845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Redis Streams for streaming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FastAPI for serving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PyTorch + scikit-learn for ML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818120" y="896893"/>
            <a:ext cx="3246120" cy="1402080"/>
          </a:xfrm>
          <a:prstGeom prst="roundRect">
            <a:avLst>
              <a:gd name="adj" fmla="val 4225"/>
            </a:avLst>
          </a:prstGeom>
          <a:solidFill>
            <a:srgbClr val="FFF3E6"/>
          </a:solidFill>
          <a:ln w="12700">
            <a:solidFill>
              <a:srgbClr val="F28C28"/>
            </a:solidFill>
            <a:prstDash val="solid"/>
          </a:ln>
          <a:effectLst>
            <a:outerShdw blurRad="25400" dist="127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982712" y="1098061"/>
            <a:ext cx="384048" cy="384048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82712" y="1152925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476488" y="1125493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</a:rPr>
              <a:t>Control rules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019288" y="1536973"/>
            <a:ext cx="2560320" cy="670845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Minimum margin protection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Maximum discount cap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Price parity + fairness checks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510733" y="2449749"/>
            <a:ext cx="2498082" cy="4325955"/>
          </a:xfrm>
          <a:prstGeom prst="roundRect">
            <a:avLst>
              <a:gd name="adj" fmla="val 10714"/>
            </a:avLst>
          </a:prstGeom>
          <a:solidFill>
            <a:srgbClr val="1D3550"/>
          </a:solidFill>
          <a:ln w="12700">
            <a:solidFill>
              <a:srgbClr val="355468"/>
            </a:solidFill>
            <a:prstDash val="solid"/>
          </a:ln>
          <a:effectLst>
            <a:outerShdw blurRad="25400" dist="127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972535" y="2645575"/>
            <a:ext cx="169869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Latency plan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574530" y="2919895"/>
            <a:ext cx="2370488" cy="5927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Cache the latest features in Redis, keep model inference lightweight, and return only the final price + top recommendations in the request path.</a:t>
            </a:r>
          </a:p>
        </p:txBody>
      </p:sp>
      <p:sp>
        <p:nvSpPr>
          <p:cNvPr id="23" name="Shape 21"/>
          <p:cNvSpPr/>
          <p:nvPr/>
        </p:nvSpPr>
        <p:spPr>
          <a:xfrm>
            <a:off x="9679021" y="3722630"/>
            <a:ext cx="2188724" cy="307157"/>
          </a:xfrm>
          <a:prstGeom prst="roundRect">
            <a:avLst>
              <a:gd name="adj" fmla="val 41176"/>
            </a:avLst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4" name="Text 22"/>
          <p:cNvSpPr/>
          <p:nvPr/>
        </p:nvSpPr>
        <p:spPr>
          <a:xfrm>
            <a:off x="10113585" y="3816406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cache read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9679021" y="4245450"/>
            <a:ext cx="2188724" cy="307157"/>
          </a:xfrm>
          <a:prstGeom prst="roundRect">
            <a:avLst>
              <a:gd name="adj" fmla="val 41176"/>
            </a:avLst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Text 24"/>
          <p:cNvSpPr/>
          <p:nvPr/>
        </p:nvSpPr>
        <p:spPr>
          <a:xfrm>
            <a:off x="10113585" y="4333130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 model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679021" y="4744527"/>
            <a:ext cx="2265996" cy="321378"/>
          </a:xfrm>
          <a:prstGeom prst="roundRect">
            <a:avLst>
              <a:gd name="adj" fmla="val 41176"/>
            </a:avLst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8" name="Text 26"/>
          <p:cNvSpPr/>
          <p:nvPr/>
        </p:nvSpPr>
        <p:spPr>
          <a:xfrm>
            <a:off x="10025312" y="4845567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response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679021" y="5216688"/>
            <a:ext cx="2188724" cy="307403"/>
          </a:xfrm>
          <a:prstGeom prst="roundRect">
            <a:avLst>
              <a:gd name="adj" fmla="val 41176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095297" y="5295937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p99 &lt; 200ms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9679021" y="5716011"/>
            <a:ext cx="2188724" cy="320546"/>
          </a:xfrm>
          <a:prstGeom prst="roundRect">
            <a:avLst>
              <a:gd name="adj" fmla="val 41176"/>
            </a:avLst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025312" y="5807451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safe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9679021" y="6228476"/>
            <a:ext cx="2188724" cy="297018"/>
          </a:xfrm>
          <a:prstGeom prst="roundRect">
            <a:avLst>
              <a:gd name="adj" fmla="val 41176"/>
            </a:avLst>
          </a:prstGeom>
          <a:solidFill>
            <a:srgbClr val="D94C4C"/>
          </a:solidFill>
          <a:ln w="12700">
            <a:solidFill>
              <a:srgbClr val="D94C4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113585" y="629553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D6F8E"/>
          </a:solidFill>
          <a:ln w="12700">
            <a:solidFill>
              <a:srgbClr val="1D6F8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82296"/>
            <a:ext cx="118259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Uniqueness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/>
              <a:t>Why Flow Price AI Wins</a:t>
            </a:r>
          </a:p>
        </p:txBody>
      </p:sp>
      <p:sp>
        <p:nvSpPr>
          <p:cNvPr id="5" name="Shape 3"/>
          <p:cNvSpPr/>
          <p:nvPr/>
        </p:nvSpPr>
        <p:spPr>
          <a:xfrm>
            <a:off x="445770" y="1258316"/>
            <a:ext cx="6099810" cy="4469384"/>
          </a:xfrm>
          <a:prstGeom prst="roundRect">
            <a:avLst>
              <a:gd name="adj" fmla="val 3030"/>
            </a:avLst>
          </a:prstGeom>
          <a:solidFill>
            <a:srgbClr val="F9FBFD"/>
          </a:solidFill>
          <a:ln w="12700">
            <a:solidFill>
              <a:srgbClr val="D5DEE6"/>
            </a:solidFill>
            <a:prstDash val="solid"/>
          </a:ln>
          <a:effectLst>
            <a:outerShdw blurRad="25400" dist="127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751320" y="1271016"/>
            <a:ext cx="5257495" cy="4469384"/>
          </a:xfrm>
          <a:prstGeom prst="roundRect">
            <a:avLst>
              <a:gd name="adj" fmla="val 3030"/>
            </a:avLst>
          </a:prstGeom>
          <a:solidFill>
            <a:srgbClr val="F9FBFD"/>
          </a:solidFill>
          <a:ln w="12700">
            <a:solidFill>
              <a:srgbClr val="D5DEE6"/>
            </a:solidFill>
            <a:prstDash val="solid"/>
          </a:ln>
          <a:effectLst>
            <a:outerShdw blurRad="25400" dist="127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75814" y="1509776"/>
            <a:ext cx="1797811" cy="403352"/>
          </a:xfrm>
          <a:prstGeom prst="roundRect">
            <a:avLst>
              <a:gd name="adj" fmla="val 25000"/>
            </a:avLst>
          </a:prstGeom>
          <a:solidFill>
            <a:srgbClr val="E8F1F5"/>
          </a:solidFill>
          <a:ln w="12700">
            <a:solidFill>
              <a:srgbClr val="D2E2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02560" y="1617472"/>
            <a:ext cx="1671065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IN" sz="1200" b="1" dirty="0"/>
              <a:t>Traditional Systems</a:t>
            </a:r>
            <a:endParaRPr lang="en-US" sz="1150" b="1" dirty="0"/>
          </a:p>
        </p:txBody>
      </p:sp>
      <p:sp>
        <p:nvSpPr>
          <p:cNvPr id="9" name="Shape 7"/>
          <p:cNvSpPr/>
          <p:nvPr/>
        </p:nvSpPr>
        <p:spPr>
          <a:xfrm>
            <a:off x="4493259" y="1509776"/>
            <a:ext cx="1642871" cy="403352"/>
          </a:xfrm>
          <a:prstGeom prst="roundRect">
            <a:avLst>
              <a:gd name="adj" fmla="val 25000"/>
            </a:avLst>
          </a:prstGeom>
          <a:solidFill>
            <a:srgbClr val="DFF0E6"/>
          </a:solidFill>
          <a:ln w="12700">
            <a:solidFill>
              <a:srgbClr val="CFE6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52365" y="1617472"/>
            <a:ext cx="1769872" cy="187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E8B57"/>
                </a:solidFill>
              </a:rPr>
              <a:t>Flow Price AI (Ours)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85801" y="2135124"/>
            <a:ext cx="1575307" cy="457200"/>
          </a:xfrm>
          <a:prstGeom prst="roundRect">
            <a:avLst>
              <a:gd name="adj" fmla="val 20000"/>
            </a:avLst>
          </a:prstGeom>
          <a:solidFill>
            <a:srgbClr val="FAFCFD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1" y="2272284"/>
            <a:ext cx="136526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1A1A1A"/>
                </a:solidFill>
              </a:rPr>
              <a:t>Pricing style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614675" y="2135124"/>
            <a:ext cx="1720089" cy="457200"/>
          </a:xfrm>
          <a:prstGeom prst="roundRect">
            <a:avLst>
              <a:gd name="adj" fmla="val 20000"/>
            </a:avLst>
          </a:prstGeom>
          <a:solidFill>
            <a:srgbClr val="FFF4F2"/>
          </a:solidFill>
          <a:ln w="12700">
            <a:solidFill>
              <a:srgbClr val="F2D4C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05362" y="2217420"/>
            <a:ext cx="153796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F6B76"/>
                </a:solidFill>
              </a:rPr>
              <a:t>Static, batch based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453128" y="2135124"/>
            <a:ext cx="1642871" cy="457200"/>
          </a:xfrm>
          <a:prstGeom prst="roundRect">
            <a:avLst>
              <a:gd name="adj" fmla="val 20000"/>
            </a:avLst>
          </a:prstGeom>
          <a:solidFill>
            <a:srgbClr val="ECF7EF"/>
          </a:solidFill>
          <a:ln w="12700">
            <a:solidFill>
              <a:srgbClr val="D2E8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07992" y="2217420"/>
            <a:ext cx="146684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A1A1A"/>
                </a:solidFill>
              </a:rPr>
              <a:t>Real-time, demand aware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85801" y="2793492"/>
            <a:ext cx="1575307" cy="457200"/>
          </a:xfrm>
          <a:prstGeom prst="roundRect">
            <a:avLst>
              <a:gd name="adj" fmla="val 20000"/>
            </a:avLst>
          </a:prstGeom>
          <a:solidFill>
            <a:srgbClr val="F4F8FB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1" y="2930652"/>
            <a:ext cx="136526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1A1A1A"/>
                </a:solidFill>
              </a:rPr>
              <a:t>Recommendation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614675" y="2793492"/>
            <a:ext cx="1720089" cy="457200"/>
          </a:xfrm>
          <a:prstGeom prst="roundRect">
            <a:avLst>
              <a:gd name="adj" fmla="val 20000"/>
            </a:avLst>
          </a:prstGeom>
          <a:solidFill>
            <a:srgbClr val="FFF4F2"/>
          </a:solidFill>
          <a:ln w="12700">
            <a:solidFill>
              <a:srgbClr val="F2D4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05362" y="2875788"/>
            <a:ext cx="153796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150">
                <a:solidFill>
                  <a:srgbClr val="5F6B76"/>
                </a:solidFill>
              </a:rPr>
              <a:t>Homepage popularity only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453128" y="2793492"/>
            <a:ext cx="1642871" cy="457200"/>
          </a:xfrm>
          <a:prstGeom prst="roundRect">
            <a:avLst>
              <a:gd name="adj" fmla="val 20000"/>
            </a:avLst>
          </a:prstGeom>
          <a:solidFill>
            <a:srgbClr val="ECF7EF"/>
          </a:solidFill>
          <a:ln w="12700">
            <a:solidFill>
              <a:srgbClr val="D2E8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07992" y="2875788"/>
            <a:ext cx="146684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150">
                <a:solidFill>
                  <a:srgbClr val="1A1A1A"/>
                </a:solidFill>
              </a:rPr>
              <a:t>Session aware + hybrid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85801" y="3451860"/>
            <a:ext cx="1575307" cy="457200"/>
          </a:xfrm>
          <a:prstGeom prst="roundRect">
            <a:avLst>
              <a:gd name="adj" fmla="val 20000"/>
            </a:avLst>
          </a:prstGeom>
          <a:solidFill>
            <a:srgbClr val="FAFCFD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1" y="3589020"/>
            <a:ext cx="136526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1A1A1A"/>
                </a:solidFill>
              </a:rPr>
              <a:t>Decision speed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2614675" y="3451860"/>
            <a:ext cx="1720089" cy="457200"/>
          </a:xfrm>
          <a:prstGeom prst="roundRect">
            <a:avLst>
              <a:gd name="adj" fmla="val 20000"/>
            </a:avLst>
          </a:prstGeom>
          <a:solidFill>
            <a:srgbClr val="FFF4F2"/>
          </a:solidFill>
          <a:ln w="12700">
            <a:solidFill>
              <a:srgbClr val="F2D4C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05362" y="3534156"/>
            <a:ext cx="153796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>
                <a:solidFill>
                  <a:srgbClr val="5F6B76"/>
                </a:solidFill>
              </a:rPr>
              <a:t>Minutes / hours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453128" y="3451860"/>
            <a:ext cx="1642871" cy="457200"/>
          </a:xfrm>
          <a:prstGeom prst="roundRect">
            <a:avLst>
              <a:gd name="adj" fmla="val 20000"/>
            </a:avLst>
          </a:prstGeom>
          <a:solidFill>
            <a:srgbClr val="ECF7EF"/>
          </a:solidFill>
          <a:ln w="12700">
            <a:solidFill>
              <a:srgbClr val="D2E8D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07992" y="3534156"/>
            <a:ext cx="146684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>
                <a:solidFill>
                  <a:srgbClr val="1A1A1A"/>
                </a:solidFill>
              </a:rPr>
              <a:t>Sub-second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85801" y="4110228"/>
            <a:ext cx="1575307" cy="457200"/>
          </a:xfrm>
          <a:prstGeom prst="roundRect">
            <a:avLst>
              <a:gd name="adj" fmla="val 20000"/>
            </a:avLst>
          </a:prstGeom>
          <a:solidFill>
            <a:srgbClr val="F4F8FB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1" y="4247388"/>
            <a:ext cx="136526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1A1A1A"/>
                </a:solidFill>
              </a:rPr>
              <a:t>Governance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2614675" y="4110228"/>
            <a:ext cx="1720089" cy="457200"/>
          </a:xfrm>
          <a:prstGeom prst="roundRect">
            <a:avLst>
              <a:gd name="adj" fmla="val 20000"/>
            </a:avLst>
          </a:prstGeom>
          <a:solidFill>
            <a:srgbClr val="FFF4F2"/>
          </a:solidFill>
          <a:ln w="12700">
            <a:solidFill>
              <a:srgbClr val="F2D4C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05362" y="4192524"/>
            <a:ext cx="153796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>
                <a:solidFill>
                  <a:srgbClr val="5F6B76"/>
                </a:solidFill>
              </a:rPr>
              <a:t>Limited visibility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453128" y="4110228"/>
            <a:ext cx="1642871" cy="457200"/>
          </a:xfrm>
          <a:prstGeom prst="roundRect">
            <a:avLst>
              <a:gd name="adj" fmla="val 20000"/>
            </a:avLst>
          </a:prstGeom>
          <a:solidFill>
            <a:srgbClr val="ECF7EF"/>
          </a:solidFill>
          <a:ln w="12700">
            <a:solidFill>
              <a:srgbClr val="D2E8D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07992" y="4247388"/>
            <a:ext cx="1524508" cy="229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A1A1A"/>
                </a:solidFill>
              </a:rPr>
              <a:t>Fairness + explanation + A/B tests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7048500" y="1453896"/>
            <a:ext cx="1812929" cy="234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4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map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048500" y="1792224"/>
            <a:ext cx="4668293" cy="469511"/>
          </a:xfrm>
          <a:prstGeom prst="roundRect">
            <a:avLst>
              <a:gd name="adj" fmla="val 28846"/>
            </a:avLst>
          </a:prstGeom>
          <a:solidFill>
            <a:srgbClr val="EAF3F7"/>
          </a:solidFill>
          <a:ln w="12700">
            <a:solidFill>
              <a:srgbClr val="0F4E66"/>
            </a:solidFill>
            <a:prstDash val="solid"/>
          </a:ln>
          <a:effectLst>
            <a:outerShdw blurRad="25400" dist="127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7277100" y="1970048"/>
            <a:ext cx="1314374" cy="1083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4E66"/>
                </a:solidFill>
              </a:rPr>
              <a:t>Hit rate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557260" y="1960320"/>
            <a:ext cx="2674071" cy="1083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F6B76"/>
                </a:solidFill>
              </a:rPr>
              <a:t>Recommendation quality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048500" y="2450592"/>
            <a:ext cx="4668293" cy="469511"/>
          </a:xfrm>
          <a:prstGeom prst="roundRect">
            <a:avLst>
              <a:gd name="adj" fmla="val 28846"/>
            </a:avLst>
          </a:prstGeom>
          <a:solidFill>
            <a:srgbClr val="ECF7EF"/>
          </a:solidFill>
          <a:ln w="12700">
            <a:solidFill>
              <a:srgbClr val="2E8B57"/>
            </a:solidFill>
            <a:prstDash val="solid"/>
          </a:ln>
          <a:effectLst>
            <a:outerShdw blurRad="25400" dist="127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7277100" y="2628416"/>
            <a:ext cx="1314374" cy="1083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B57"/>
                </a:solidFill>
              </a:rPr>
              <a:t>NDCG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557260" y="2618688"/>
            <a:ext cx="2674071" cy="1083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F6B76"/>
                </a:solidFill>
              </a:rPr>
              <a:t>Rank relevance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7048500" y="3108960"/>
            <a:ext cx="4668293" cy="469511"/>
          </a:xfrm>
          <a:prstGeom prst="roundRect">
            <a:avLst>
              <a:gd name="adj" fmla="val 28846"/>
            </a:avLst>
          </a:prstGeom>
          <a:solidFill>
            <a:srgbClr val="FFF3E6"/>
          </a:solidFill>
          <a:ln w="12700">
            <a:solidFill>
              <a:srgbClr val="F28C28"/>
            </a:solidFill>
            <a:prstDash val="solid"/>
          </a:ln>
          <a:effectLst>
            <a:outerShdw blurRad="25400" dist="127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7277100" y="3286784"/>
            <a:ext cx="1314374" cy="1083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8C28"/>
                </a:solidFill>
              </a:rPr>
              <a:t>Revenue uplift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8557260" y="3277056"/>
            <a:ext cx="2674071" cy="1083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F6B76"/>
                </a:solidFill>
              </a:rPr>
              <a:t>Pricing success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7048500" y="3767328"/>
            <a:ext cx="4668293" cy="469511"/>
          </a:xfrm>
          <a:prstGeom prst="roundRect">
            <a:avLst>
              <a:gd name="adj" fmla="val 28846"/>
            </a:avLst>
          </a:prstGeom>
          <a:solidFill>
            <a:srgbClr val="F6ECFF"/>
          </a:solidFill>
          <a:ln w="12700">
            <a:solidFill>
              <a:srgbClr val="7A4CC2"/>
            </a:solidFill>
            <a:prstDash val="solid"/>
          </a:ln>
          <a:effectLst>
            <a:outerShdw blurRad="25400" dist="127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7277100" y="3945152"/>
            <a:ext cx="1314374" cy="1083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A4CC2"/>
                </a:solidFill>
              </a:rPr>
              <a:t>p99 &lt; 200ms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8557260" y="3935424"/>
            <a:ext cx="2674071" cy="1083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F6B76"/>
                </a:solidFill>
              </a:rPr>
              <a:t>Speed target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7048500" y="4425696"/>
            <a:ext cx="4668293" cy="469511"/>
          </a:xfrm>
          <a:prstGeom prst="roundRect">
            <a:avLst>
              <a:gd name="adj" fmla="val 28846"/>
            </a:avLst>
          </a:prstGeom>
          <a:solidFill>
            <a:srgbClr val="FDECEC"/>
          </a:solidFill>
          <a:ln w="12700">
            <a:solidFill>
              <a:srgbClr val="D94C4C"/>
            </a:solidFill>
            <a:prstDash val="solid"/>
          </a:ln>
          <a:effectLst>
            <a:outerShdw blurRad="25400" dist="127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7277100" y="4603520"/>
            <a:ext cx="1314374" cy="1083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4C4C"/>
                </a:solidFill>
              </a:rPr>
              <a:t>Fairness audit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8557260" y="4593792"/>
            <a:ext cx="2674071" cy="1083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F6B76"/>
                </a:solidFill>
              </a:rPr>
              <a:t>Bias control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7048500" y="5111496"/>
            <a:ext cx="4668293" cy="433395"/>
          </a:xfrm>
          <a:prstGeom prst="roundRect">
            <a:avLst>
              <a:gd name="adj" fmla="val 25000"/>
            </a:avLst>
          </a:prstGeom>
          <a:solidFill>
            <a:srgbClr val="162B3A"/>
          </a:solidFill>
          <a:ln w="12700">
            <a:solidFill>
              <a:srgbClr val="162B3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231380" y="5221224"/>
            <a:ext cx="4305707" cy="1083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The system wins only when it is fast, measurable, and fair.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D6F8E"/>
          </a:solidFill>
          <a:ln w="12700">
            <a:solidFill>
              <a:srgbClr val="1D6F8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173736"/>
            <a:ext cx="118259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Member Details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9326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B3A"/>
                </a:solidFill>
              </a:rPr>
              <a:t>Build focus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691640" y="932688"/>
            <a:ext cx="440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Apple Garamond" panose="02000506080000020004" pitchFamily="2" charset="0"/>
              </a:rPr>
              <a:t>Real-time ML system + backend architecture + interactive demo</a:t>
            </a:r>
            <a:endParaRPr lang="en-US" sz="1080" b="1" i="1" dirty="0">
              <a:solidFill>
                <a:schemeClr val="tx1">
                  <a:lumMod val="65000"/>
                  <a:lumOff val="35000"/>
                </a:schemeClr>
              </a:solidFill>
              <a:latin typeface="Apple Garamond" panose="02000506080000020004" pitchFamily="2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850900" y="4832350"/>
            <a:ext cx="5120640" cy="1828800"/>
          </a:xfrm>
          <a:prstGeom prst="roundRect">
            <a:avLst>
              <a:gd name="adj" fmla="val 7500"/>
            </a:avLst>
          </a:prstGeom>
          <a:solidFill>
            <a:srgbClr val="F9FBFD"/>
          </a:solidFill>
          <a:ln w="12700">
            <a:solidFill>
              <a:srgbClr val="D5DEE6"/>
            </a:solidFill>
            <a:prstDash val="solid"/>
          </a:ln>
          <a:effectLst>
            <a:outerShdw blurRad="25400" dist="127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1106932" y="503351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4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will demo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106932" y="5307838"/>
            <a:ext cx="4818888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 live event stream updates user intent in the session.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price engine reacts to demand and inventory changes.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recommendation engine reorders products instantly.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A/B testing compares strategies, while fairness checks stay on.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062980" y="4832350"/>
            <a:ext cx="5120640" cy="1828800"/>
          </a:xfrm>
          <a:prstGeom prst="roundRect">
            <a:avLst>
              <a:gd name="adj" fmla="val 7500"/>
            </a:avLst>
          </a:prstGeom>
          <a:solidFill>
            <a:srgbClr val="1D3550"/>
          </a:solidFill>
          <a:ln w="12700">
            <a:solidFill>
              <a:srgbClr val="355468"/>
            </a:solidFill>
            <a:prstDash val="solid"/>
          </a:ln>
          <a:effectLst>
            <a:outerShdw blurRad="25400" dist="127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319012" y="503351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 message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319012" y="536270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A real-time, intelligent system transforming user behavior into business decisions.</a:t>
            </a:r>
            <a:endParaRPr lang="en-US" sz="1240" b="1" dirty="0">
              <a:solidFill>
                <a:schemeClr val="bg1"/>
              </a:solidFill>
            </a:endParaRPr>
          </a:p>
        </p:txBody>
      </p:sp>
      <p:sp>
        <p:nvSpPr>
          <p:cNvPr id="37" name="Shape 35"/>
          <p:cNvSpPr/>
          <p:nvPr/>
        </p:nvSpPr>
        <p:spPr>
          <a:xfrm>
            <a:off x="6474460" y="6066790"/>
            <a:ext cx="1280160" cy="310896"/>
          </a:xfrm>
          <a:prstGeom prst="roundRect">
            <a:avLst>
              <a:gd name="adj" fmla="val 41176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74460" y="612165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7891780" y="6066790"/>
            <a:ext cx="1554480" cy="310896"/>
          </a:xfrm>
          <a:prstGeom prst="roundRect">
            <a:avLst>
              <a:gd name="adj" fmla="val 41176"/>
            </a:avLst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891780" y="6121654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Personalized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9583420" y="6066790"/>
            <a:ext cx="1325880" cy="310896"/>
          </a:xfrm>
          <a:prstGeom prst="roundRect">
            <a:avLst>
              <a:gd name="adj" fmla="val 41176"/>
            </a:avLst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583420" y="6121654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</a:t>
            </a:r>
            <a:endParaRPr lang="en-US" sz="950" dirty="0"/>
          </a:p>
        </p:txBody>
      </p:sp>
      <p:graphicFrame>
        <p:nvGraphicFramePr>
          <p:cNvPr id="45" name="Table 44">
            <a:extLst>
              <a:ext uri="{FF2B5EF4-FFF2-40B4-BE49-F238E27FC236}">
                <a16:creationId xmlns:a16="http://schemas.microsoft.com/office/drawing/2014/main" id="{DD0AADE0-AAFB-BB38-E3C9-3B65521A7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9798819"/>
              </p:ext>
            </p:extLst>
          </p:nvPr>
        </p:nvGraphicFramePr>
        <p:xfrm>
          <a:off x="850900" y="1991614"/>
          <a:ext cx="10332721" cy="2118360"/>
        </p:xfrm>
        <a:graphic>
          <a:graphicData uri="http://schemas.openxmlformats.org/drawingml/2006/table">
            <a:tbl>
              <a:tblPr/>
              <a:tblGrid>
                <a:gridCol w="2583180">
                  <a:extLst>
                    <a:ext uri="{9D8B030D-6E8A-4147-A177-3AD203B41FA5}">
                      <a16:colId xmlns:a16="http://schemas.microsoft.com/office/drawing/2014/main" val="3467884060"/>
                    </a:ext>
                  </a:extLst>
                </a:gridCol>
                <a:gridCol w="2888900">
                  <a:extLst>
                    <a:ext uri="{9D8B030D-6E8A-4147-A177-3AD203B41FA5}">
                      <a16:colId xmlns:a16="http://schemas.microsoft.com/office/drawing/2014/main" val="2874685797"/>
                    </a:ext>
                  </a:extLst>
                </a:gridCol>
                <a:gridCol w="1904412">
                  <a:extLst>
                    <a:ext uri="{9D8B030D-6E8A-4147-A177-3AD203B41FA5}">
                      <a16:colId xmlns:a16="http://schemas.microsoft.com/office/drawing/2014/main" val="2488285426"/>
                    </a:ext>
                  </a:extLst>
                </a:gridCol>
                <a:gridCol w="2956229">
                  <a:extLst>
                    <a:ext uri="{9D8B030D-6E8A-4147-A177-3AD203B41FA5}">
                      <a16:colId xmlns:a16="http://schemas.microsoft.com/office/drawing/2014/main" val="422657377"/>
                    </a:ext>
                  </a:extLst>
                </a:gridCol>
              </a:tblGrid>
              <a:tr h="289560"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1" i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Member Name​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1" i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Role​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1" i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Degree​</a:t>
                      </a:r>
                      <a:endParaRPr lang="en-US" b="1" i="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1" i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Semester​</a:t>
                      </a:r>
                      <a:endParaRPr lang="en-US" b="1" i="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9591559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Prachi Parmar​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Team leader​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B. E.​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4​ 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345897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Preksha Sanghadia​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Frontend developer​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B. E.​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8708292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Dipak Raval​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IN" dirty="0"/>
                        <a:t>ML + Backend Engineer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B. E.​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8418052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Manan Shah​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Data Engineer​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B. E.​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7416205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Divy Jani​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Backend Engineer​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B. E.​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1837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258</TotalTime>
  <Words>644</Words>
  <Application>Microsoft Office PowerPoint</Application>
  <PresentationFormat>Widescreen</PresentationFormat>
  <Paragraphs>166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Aharoni</vt:lpstr>
      <vt:lpstr>Apple Garamond</vt:lpstr>
      <vt:lpstr>Arial</vt:lpstr>
      <vt:lpstr>Arial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Flow Price AI - Dynamic Pricing and Personalization Engine</dc:title>
  <dc:subject>Flow Price AI</dc:subject>
  <dc:creator>OpenAI</dc:creator>
  <cp:lastModifiedBy>DIPAKBHAI RAVAL</cp:lastModifiedBy>
  <cp:revision>8</cp:revision>
  <dcterms:created xsi:type="dcterms:W3CDTF">2026-03-29T19:32:51Z</dcterms:created>
  <dcterms:modified xsi:type="dcterms:W3CDTF">2026-04-11T04:14:22Z</dcterms:modified>
</cp:coreProperties>
</file>